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6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2576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1085850"/>
            <a:ext cx="6619244" cy="2497186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216" y="3583035"/>
            <a:ext cx="6619244" cy="646065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042989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63359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7" y="2146300"/>
            <a:ext cx="6619243" cy="1436735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583036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64502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485" y="1545432"/>
            <a:ext cx="3297254" cy="3146822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0870" y="1542069"/>
            <a:ext cx="3297256" cy="315018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359489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485" y="1428750"/>
            <a:ext cx="329725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485" y="1885950"/>
            <a:ext cx="3297254" cy="280630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0872" y="1428750"/>
            <a:ext cx="329725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0872" y="1885950"/>
            <a:ext cx="3297254" cy="280630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491338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5/30/2026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899741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5/30/2026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371356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1085850"/>
            <a:ext cx="2550798" cy="1085850"/>
          </a:xfrm>
        </p:spPr>
        <p:txBody>
          <a:bodyPr anchor="b"/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8462" y="1085850"/>
            <a:ext cx="3896998" cy="3429000"/>
          </a:xfrm>
        </p:spPr>
        <p:txBody>
          <a:bodyPr anchor="ctr"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5" y="2346961"/>
            <a:ext cx="2550797" cy="2171699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5/30/2026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494971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430" y="1390644"/>
            <a:ext cx="3819680" cy="1181106"/>
          </a:xfrm>
        </p:spPr>
        <p:txBody>
          <a:bodyPr anchor="b">
            <a:normAutofit/>
          </a:bodyPr>
          <a:lstStyle>
            <a:lvl1pPr algn="l">
              <a:defRPr sz="27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2160" y="857250"/>
            <a:ext cx="2400300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743200"/>
            <a:ext cx="3813734" cy="1028700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205253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7" y="3600440"/>
            <a:ext cx="6619243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216" y="514350"/>
            <a:ext cx="6619244" cy="27305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7" y="4025494"/>
            <a:ext cx="6619242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03975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085850"/>
            <a:ext cx="6619244" cy="14859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743200"/>
            <a:ext cx="6619244" cy="1771650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578961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101" y="1085850"/>
            <a:ext cx="5999486" cy="1742531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7800" y="2828380"/>
            <a:ext cx="5459737" cy="256631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05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3262993"/>
            <a:ext cx="6619244" cy="1257300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673721" y="728440"/>
            <a:ext cx="601434" cy="150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915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7868" y="1960341"/>
            <a:ext cx="601434" cy="150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915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1123168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2343151"/>
            <a:ext cx="6619245" cy="1239885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583036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3474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710" y="1485900"/>
            <a:ext cx="2210150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347" y="2000250"/>
            <a:ext cx="2195513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2745" y="1485900"/>
            <a:ext cx="220218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4829" y="2000250"/>
            <a:ext cx="2210096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3525" y="1485900"/>
            <a:ext cx="2199085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3525" y="2000250"/>
            <a:ext cx="2199085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4607" y="1600200"/>
            <a:ext cx="0" cy="29718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1670" y="1600200"/>
            <a:ext cx="0" cy="297516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5/30/2026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14982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347" y="3188212"/>
            <a:ext cx="2205038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347" y="1657350"/>
            <a:ext cx="2205038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347" y="3620409"/>
            <a:ext cx="2205038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032" y="3188212"/>
            <a:ext cx="219789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031" y="1657350"/>
            <a:ext cx="2197894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016" y="3620408"/>
            <a:ext cx="2200805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3525" y="3188212"/>
            <a:ext cx="2199085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3525" y="1657350"/>
            <a:ext cx="2199085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3432" y="3620406"/>
            <a:ext cx="2201998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4607" y="1600200"/>
            <a:ext cx="0" cy="29718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1670" y="1600200"/>
            <a:ext cx="0" cy="297516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5/30/2026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551966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9607631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8159" y="322660"/>
            <a:ext cx="1314451" cy="4369594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348" y="665561"/>
            <a:ext cx="5567362" cy="402669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5688840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4832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002264"/>
            <a:ext cx="3027759" cy="314123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169261"/>
            <a:ext cx="1141809" cy="1774090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6456759" y="1257300"/>
            <a:ext cx="2114550" cy="211455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60" y="1"/>
            <a:ext cx="1202540" cy="85605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4572000"/>
            <a:ext cx="745301" cy="5715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584" y="339538"/>
            <a:ext cx="7053542" cy="10503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484" y="1539689"/>
            <a:ext cx="6709906" cy="31466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616730" y="1343026"/>
            <a:ext cx="742949" cy="228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825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713680" y="2418973"/>
            <a:ext cx="2894846" cy="2286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25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4406" y="221797"/>
            <a:ext cx="628649" cy="5757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1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91351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  <p:sldLayoutId id="2147483704" r:id="rId16"/>
    <p:sldLayoutId id="2147483705" r:id="rId17"/>
    <p:sldLayoutId id="2147483706" r:id="rId18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315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5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35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2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187950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accent4">
            <a:lumMod val="50000"/>
            <a:alpha val="9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2E4057">
              <a:alpha val="42000"/>
            </a:srgbClr>
          </a:solidFill>
          <a:ln w="12700">
            <a:solidFill>
              <a:srgbClr val="2E405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Shape 2"/>
          <p:cNvSpPr/>
          <p:nvPr/>
        </p:nvSpPr>
        <p:spPr>
          <a:xfrm>
            <a:off x="7040880" y="365760"/>
            <a:ext cx="64008" cy="64008"/>
          </a:xfrm>
          <a:prstGeom prst="ellipse">
            <a:avLst/>
          </a:prstGeom>
          <a:solidFill>
            <a:srgbClr val="00A8CC">
              <a:alpha val="50000"/>
            </a:srgbClr>
          </a:solidFill>
          <a:ln w="12700">
            <a:solidFill>
              <a:srgbClr val="00A8CC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0920" y="365760"/>
            <a:ext cx="64008" cy="64008"/>
          </a:xfrm>
          <a:prstGeom prst="ellipse">
            <a:avLst/>
          </a:prstGeom>
          <a:solidFill>
            <a:srgbClr val="00A8CC">
              <a:alpha val="50000"/>
            </a:srgbClr>
          </a:solidFill>
          <a:ln w="12700">
            <a:solidFill>
              <a:srgbClr val="00A8CC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0" y="365760"/>
            <a:ext cx="64008" cy="64008"/>
          </a:xfrm>
          <a:prstGeom prst="ellipse">
            <a:avLst/>
          </a:prstGeom>
          <a:solidFill>
            <a:srgbClr val="00A8CC">
              <a:alpha val="50000"/>
            </a:srgbClr>
          </a:solidFill>
          <a:ln w="12700">
            <a:solidFill>
              <a:srgbClr val="00A8CC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01000" y="365760"/>
            <a:ext cx="64008" cy="64008"/>
          </a:xfrm>
          <a:prstGeom prst="ellipse">
            <a:avLst/>
          </a:prstGeom>
          <a:solidFill>
            <a:srgbClr val="00A8CC">
              <a:alpha val="50000"/>
            </a:srgbClr>
          </a:solidFill>
          <a:ln w="12700">
            <a:solidFill>
              <a:srgbClr val="00A8CC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21040" y="365760"/>
            <a:ext cx="64008" cy="64008"/>
          </a:xfrm>
          <a:prstGeom prst="ellipse">
            <a:avLst/>
          </a:prstGeom>
          <a:solidFill>
            <a:srgbClr val="00A8CC">
              <a:alpha val="50000"/>
            </a:srgbClr>
          </a:solidFill>
          <a:ln w="12700">
            <a:solidFill>
              <a:srgbClr val="00A8CC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41080" y="365760"/>
            <a:ext cx="64008" cy="64008"/>
          </a:xfrm>
          <a:prstGeom prst="ellipse">
            <a:avLst/>
          </a:prstGeom>
          <a:solidFill>
            <a:srgbClr val="00A8CC">
              <a:alpha val="50000"/>
            </a:srgbClr>
          </a:solidFill>
          <a:ln w="12700">
            <a:solidFill>
              <a:srgbClr val="00A8CC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0" y="1234440"/>
            <a:ext cx="64008" cy="64008"/>
          </a:xfrm>
          <a:prstGeom prst="ellipse">
            <a:avLst/>
          </a:prstGeom>
          <a:solidFill>
            <a:srgbClr val="00A8CC">
              <a:alpha val="50000"/>
            </a:srgbClr>
          </a:solidFill>
          <a:ln w="12700">
            <a:solidFill>
              <a:srgbClr val="00A8CC">
                <a:alpha val="5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60920" y="1234440"/>
            <a:ext cx="64008" cy="64008"/>
          </a:xfrm>
          <a:prstGeom prst="ellipse">
            <a:avLst/>
          </a:prstGeom>
          <a:solidFill>
            <a:srgbClr val="00A8CC">
              <a:alpha val="50000"/>
            </a:srgbClr>
          </a:solidFill>
          <a:ln w="12700">
            <a:solidFill>
              <a:srgbClr val="00A8CC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0" y="1234440"/>
            <a:ext cx="64008" cy="64008"/>
          </a:xfrm>
          <a:prstGeom prst="ellipse">
            <a:avLst/>
          </a:prstGeom>
          <a:solidFill>
            <a:srgbClr val="00A8CC">
              <a:alpha val="50000"/>
            </a:srgbClr>
          </a:solidFill>
          <a:ln w="12700">
            <a:solidFill>
              <a:srgbClr val="00A8CC">
                <a:alpha val="5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01000" y="1234440"/>
            <a:ext cx="64008" cy="64008"/>
          </a:xfrm>
          <a:prstGeom prst="ellipse">
            <a:avLst/>
          </a:prstGeom>
          <a:solidFill>
            <a:srgbClr val="00A8CC">
              <a:alpha val="50000"/>
            </a:srgbClr>
          </a:solidFill>
          <a:ln w="12700">
            <a:solidFill>
              <a:srgbClr val="00A8CC">
                <a:alpha val="5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21040" y="1234440"/>
            <a:ext cx="64008" cy="64008"/>
          </a:xfrm>
          <a:prstGeom prst="ellipse">
            <a:avLst/>
          </a:prstGeom>
          <a:solidFill>
            <a:srgbClr val="00A8CC">
              <a:alpha val="50000"/>
            </a:srgbClr>
          </a:solidFill>
          <a:ln w="12700">
            <a:solidFill>
              <a:srgbClr val="00A8CC">
                <a:alpha val="5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41080" y="1234440"/>
            <a:ext cx="64008" cy="64008"/>
          </a:xfrm>
          <a:prstGeom prst="ellipse">
            <a:avLst/>
          </a:prstGeom>
          <a:solidFill>
            <a:srgbClr val="00A8CC">
              <a:alpha val="50000"/>
            </a:srgbClr>
          </a:solidFill>
          <a:ln w="12700">
            <a:solidFill>
              <a:srgbClr val="00A8CC">
                <a:alpha val="5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0" y="2103120"/>
            <a:ext cx="64008" cy="64008"/>
          </a:xfrm>
          <a:prstGeom prst="ellipse">
            <a:avLst/>
          </a:prstGeom>
          <a:solidFill>
            <a:srgbClr val="00A8CC">
              <a:alpha val="50000"/>
            </a:srgbClr>
          </a:solidFill>
          <a:ln w="12700">
            <a:solidFill>
              <a:srgbClr val="00A8CC">
                <a:alpha val="5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60920" y="2103120"/>
            <a:ext cx="64008" cy="64008"/>
          </a:xfrm>
          <a:prstGeom prst="ellipse">
            <a:avLst/>
          </a:prstGeom>
          <a:solidFill>
            <a:srgbClr val="00A8CC">
              <a:alpha val="50000"/>
            </a:srgbClr>
          </a:solidFill>
          <a:ln w="12700">
            <a:solidFill>
              <a:srgbClr val="00A8CC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80960" y="2103120"/>
            <a:ext cx="64008" cy="64008"/>
          </a:xfrm>
          <a:prstGeom prst="ellipse">
            <a:avLst/>
          </a:prstGeom>
          <a:solidFill>
            <a:srgbClr val="00A8CC">
              <a:alpha val="50000"/>
            </a:srgbClr>
          </a:solidFill>
          <a:ln w="12700">
            <a:solidFill>
              <a:srgbClr val="00A8CC">
                <a:alpha val="5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01000" y="2103120"/>
            <a:ext cx="64008" cy="64008"/>
          </a:xfrm>
          <a:prstGeom prst="ellipse">
            <a:avLst/>
          </a:prstGeom>
          <a:solidFill>
            <a:srgbClr val="00A8CC">
              <a:alpha val="50000"/>
            </a:srgbClr>
          </a:solidFill>
          <a:ln w="12700">
            <a:solidFill>
              <a:srgbClr val="00A8CC">
                <a:alpha val="5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21040" y="2103120"/>
            <a:ext cx="64008" cy="64008"/>
          </a:xfrm>
          <a:prstGeom prst="ellipse">
            <a:avLst/>
          </a:prstGeom>
          <a:solidFill>
            <a:srgbClr val="00A8CC">
              <a:alpha val="50000"/>
            </a:srgbClr>
          </a:solidFill>
          <a:ln w="12700">
            <a:solidFill>
              <a:srgbClr val="00A8CC">
                <a:alpha val="5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41080" y="2103120"/>
            <a:ext cx="64008" cy="64008"/>
          </a:xfrm>
          <a:prstGeom prst="ellipse">
            <a:avLst/>
          </a:prstGeom>
          <a:solidFill>
            <a:srgbClr val="00A8CC">
              <a:alpha val="50000"/>
            </a:srgbClr>
          </a:solidFill>
          <a:ln w="12700">
            <a:solidFill>
              <a:srgbClr val="00A8CC">
                <a:alpha val="5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40880" y="2971800"/>
            <a:ext cx="64008" cy="64008"/>
          </a:xfrm>
          <a:prstGeom prst="ellipse">
            <a:avLst/>
          </a:prstGeom>
          <a:solidFill>
            <a:srgbClr val="00A8CC">
              <a:alpha val="50000"/>
            </a:srgbClr>
          </a:solidFill>
          <a:ln w="12700">
            <a:solidFill>
              <a:srgbClr val="00A8CC">
                <a:alpha val="5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60920" y="2971800"/>
            <a:ext cx="64008" cy="64008"/>
          </a:xfrm>
          <a:prstGeom prst="ellipse">
            <a:avLst/>
          </a:prstGeom>
          <a:solidFill>
            <a:srgbClr val="00A8CC">
              <a:alpha val="50000"/>
            </a:srgbClr>
          </a:solidFill>
          <a:ln w="12700">
            <a:solidFill>
              <a:srgbClr val="00A8CC">
                <a:alpha val="5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80960" y="2971800"/>
            <a:ext cx="64008" cy="64008"/>
          </a:xfrm>
          <a:prstGeom prst="ellipse">
            <a:avLst/>
          </a:prstGeom>
          <a:solidFill>
            <a:srgbClr val="00A8CC">
              <a:alpha val="50000"/>
            </a:srgbClr>
          </a:solidFill>
          <a:ln w="12700">
            <a:solidFill>
              <a:srgbClr val="00A8CC">
                <a:alpha val="5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01000" y="2971800"/>
            <a:ext cx="64008" cy="64008"/>
          </a:xfrm>
          <a:prstGeom prst="ellipse">
            <a:avLst/>
          </a:prstGeom>
          <a:solidFill>
            <a:srgbClr val="00A8CC">
              <a:alpha val="50000"/>
            </a:srgbClr>
          </a:solidFill>
          <a:ln w="12700">
            <a:solidFill>
              <a:srgbClr val="00A8CC">
                <a:alpha val="5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21040" y="2971800"/>
            <a:ext cx="64008" cy="64008"/>
          </a:xfrm>
          <a:prstGeom prst="ellipse">
            <a:avLst/>
          </a:prstGeom>
          <a:solidFill>
            <a:srgbClr val="00A8CC">
              <a:alpha val="50000"/>
            </a:srgbClr>
          </a:solidFill>
          <a:ln w="12700">
            <a:solidFill>
              <a:srgbClr val="00A8CC">
                <a:alpha val="5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41080" y="2971800"/>
            <a:ext cx="64008" cy="64008"/>
          </a:xfrm>
          <a:prstGeom prst="ellipse">
            <a:avLst/>
          </a:prstGeom>
          <a:solidFill>
            <a:srgbClr val="00A8CC">
              <a:alpha val="50000"/>
            </a:srgbClr>
          </a:solidFill>
          <a:ln w="12700">
            <a:solidFill>
              <a:srgbClr val="00A8CC">
                <a:alpha val="5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040880" y="3840480"/>
            <a:ext cx="64008" cy="64008"/>
          </a:xfrm>
          <a:prstGeom prst="ellipse">
            <a:avLst/>
          </a:prstGeom>
          <a:solidFill>
            <a:srgbClr val="00A8CC">
              <a:alpha val="50000"/>
            </a:srgbClr>
          </a:solidFill>
          <a:ln w="12700">
            <a:solidFill>
              <a:srgbClr val="00A8CC">
                <a:alpha val="5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60920" y="3840480"/>
            <a:ext cx="64008" cy="64008"/>
          </a:xfrm>
          <a:prstGeom prst="ellipse">
            <a:avLst/>
          </a:prstGeom>
          <a:solidFill>
            <a:srgbClr val="00A8CC">
              <a:alpha val="50000"/>
            </a:srgbClr>
          </a:solidFill>
          <a:ln w="12700">
            <a:solidFill>
              <a:srgbClr val="00A8CC">
                <a:alpha val="5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80960" y="3840480"/>
            <a:ext cx="64008" cy="64008"/>
          </a:xfrm>
          <a:prstGeom prst="ellipse">
            <a:avLst/>
          </a:prstGeom>
          <a:solidFill>
            <a:srgbClr val="00A8CC">
              <a:alpha val="50000"/>
            </a:srgbClr>
          </a:solidFill>
          <a:ln w="12700">
            <a:solidFill>
              <a:srgbClr val="00A8CC">
                <a:alpha val="5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01000" y="3840480"/>
            <a:ext cx="64008" cy="64008"/>
          </a:xfrm>
          <a:prstGeom prst="ellipse">
            <a:avLst/>
          </a:prstGeom>
          <a:solidFill>
            <a:srgbClr val="00A8CC">
              <a:alpha val="50000"/>
            </a:srgbClr>
          </a:solidFill>
          <a:ln w="12700">
            <a:solidFill>
              <a:srgbClr val="00A8CC">
                <a:alpha val="5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21040" y="3840480"/>
            <a:ext cx="64008" cy="64008"/>
          </a:xfrm>
          <a:prstGeom prst="ellipse">
            <a:avLst/>
          </a:prstGeom>
          <a:solidFill>
            <a:srgbClr val="00A8CC">
              <a:alpha val="50000"/>
            </a:srgbClr>
          </a:solidFill>
          <a:ln w="12700">
            <a:solidFill>
              <a:srgbClr val="00A8CC">
                <a:alpha val="5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641080" y="3840480"/>
            <a:ext cx="64008" cy="64008"/>
          </a:xfrm>
          <a:prstGeom prst="ellipse">
            <a:avLst/>
          </a:prstGeom>
          <a:solidFill>
            <a:srgbClr val="00A8CC">
              <a:alpha val="50000"/>
            </a:srgbClr>
          </a:solidFill>
          <a:ln w="12700">
            <a:solidFill>
              <a:srgbClr val="00A8CC">
                <a:alpha val="5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73152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World RAG System</a:t>
            </a:r>
            <a:endParaRPr lang="en-US" sz="3800" dirty="0"/>
          </a:p>
        </p:txBody>
      </p:sp>
      <p:sp>
        <p:nvSpPr>
          <p:cNvPr id="35" name="Text 33"/>
          <p:cNvSpPr/>
          <p:nvPr/>
        </p:nvSpPr>
        <p:spPr>
          <a:xfrm>
            <a:off x="457200" y="18288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Production-Grade Retrieval-Augmented Generation Pipeline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57200" y="2514600"/>
            <a:ext cx="3200400" cy="27432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27432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E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Supervisor:</a:t>
            </a:r>
            <a:r>
              <a:rPr lang="en-US" sz="1300" dirty="0">
                <a:solidFill>
                  <a:srgbClr val="AE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300" b="1" dirty="0">
                <a:solidFill>
                  <a:srgbClr val="AE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Mentors: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AE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 : Alka, Rajanikant, Atul, Chetan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57200" y="3657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– 11 </a:t>
            </a:r>
          </a:p>
          <a:p>
            <a:r>
              <a:rPr lang="en-US" sz="1400" b="1" dirty="0">
                <a:solidFill>
                  <a:srgbClr val="AE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World RAG System — AIML Capstone Project</a:t>
            </a:r>
            <a:endParaRPr lang="en-US" sz="1400" b="1" dirty="0"/>
          </a:p>
          <a:p>
            <a:pPr marL="0" indent="0">
              <a:buNone/>
            </a:pPr>
            <a:endParaRPr lang="en-US" sz="16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chemeClr val="accent4">
              <a:lumMod val="50000"/>
            </a:schemeClr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7772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502920" cy="777240"/>
          </a:xfrm>
          <a:prstGeom prst="rect">
            <a:avLst/>
          </a:prstGeom>
          <a:solidFill>
            <a:srgbClr val="007EA7"/>
          </a:solidFill>
          <a:ln w="12700">
            <a:solidFill>
              <a:srgbClr val="007E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00584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Motivation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023360" cy="77724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05840"/>
            <a:ext cx="502920" cy="77724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00584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49240" y="100584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 – RAGBench &amp; RGB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965960"/>
            <a:ext cx="4023360" cy="7772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1965960"/>
            <a:ext cx="502920" cy="777240"/>
          </a:xfrm>
          <a:prstGeom prst="rect">
            <a:avLst/>
          </a:prstGeom>
          <a:solidFill>
            <a:srgbClr val="007EA7"/>
          </a:solidFill>
          <a:ln w="12700">
            <a:solidFill>
              <a:srgbClr val="007E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96596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0120" y="196596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Methodology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1965960"/>
            <a:ext cx="4023360" cy="77724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965960"/>
            <a:ext cx="502920" cy="77724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96596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49240" y="196596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RAG Components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2926080"/>
            <a:ext cx="4023360" cy="7772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926080"/>
            <a:ext cx="502920" cy="777240"/>
          </a:xfrm>
          <a:prstGeom prst="rect">
            <a:avLst/>
          </a:prstGeom>
          <a:solidFill>
            <a:srgbClr val="007EA7"/>
          </a:solidFill>
          <a:ln w="12700">
            <a:solidFill>
              <a:srgbClr val="007E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92608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0120" y="292608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Framework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54880" y="2926080"/>
            <a:ext cx="4023360" cy="77724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926080"/>
            <a:ext cx="502920" cy="77724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292608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49240" y="292608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Strategy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3886200"/>
            <a:ext cx="4023360" cy="7772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3886200"/>
            <a:ext cx="502920" cy="777240"/>
          </a:xfrm>
          <a:prstGeom prst="rect">
            <a:avLst/>
          </a:prstGeom>
          <a:solidFill>
            <a:srgbClr val="007EA7"/>
          </a:solidFill>
          <a:ln w="12700">
            <a:solidFill>
              <a:srgbClr val="007EA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88620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60120" y="38862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Timeline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754880" y="3886200"/>
            <a:ext cx="4023360" cy="77724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3886200"/>
            <a:ext cx="502920" cy="77724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388620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349240" y="38862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chemeClr val="accent4">
              <a:lumMod val="50000"/>
            </a:schemeClr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Motivation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3566160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515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Limitations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5544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cutoff — stale or outdated facts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21284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of plausible but incorrect answers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87121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access to private or domain-specific corpora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352958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cite or ground responses in real documents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4114800" cy="356616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0515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as the Solution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92040" y="15544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real-time, domain-specific documents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221284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Grounds responses in verifiable external context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287121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model retraining required for new domains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352958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Explainable, auditable generation pipeline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chemeClr val="accent4">
              <a:lumMod val="50000"/>
            </a:schemeClr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06240" cy="38404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206240" cy="50292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rgbClr val="007E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144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RAGBench  (Primary)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48132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 examples  |  5 Domains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8745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Biomedical Research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29514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Knowledge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7157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31363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355701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" y="395020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Context Relevance · Utilization · Completeness · Adherence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914400"/>
            <a:ext cx="4206240" cy="384048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914400"/>
            <a:ext cx="4206240" cy="50292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9144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Dataset  (Evaluation)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09160" y="148132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base + 400 extended  |  EN + ZH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09160" y="18745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Robustness — answer amid noise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09160" y="229514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Rejection — no hallucination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09160" y="27157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Integration — multi-doc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09160" y="313639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Counterfactual Robustness — error detection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09160" y="395020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Accuracy · Rejection Rate · Error Detection/Correction Rate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chemeClr val="accent4">
              <a:lumMod val="50000"/>
            </a:schemeClr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— Advanced RAG Pipeline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508760" cy="100584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1508760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3444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783080" y="1508760"/>
            <a:ext cx="2286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38528" y="139903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0" y="1005840"/>
            <a:ext cx="1508760" cy="100584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11680" y="1005840"/>
            <a:ext cx="1508760" cy="20116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0" y="123444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(BM25 + Dense)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520440" y="1508760"/>
            <a:ext cx="2286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75888" y="139903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49040" y="1005840"/>
            <a:ext cx="1508760" cy="1005840"/>
          </a:xfrm>
          <a:prstGeom prst="rect">
            <a:avLst/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49040" y="1005840"/>
            <a:ext cx="1508760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49040" y="123444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(monoT5/BERT)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257800" y="1508760"/>
            <a:ext cx="2286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13248" y="139903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0" y="1005840"/>
            <a:ext cx="1508760" cy="1005840"/>
          </a:xfrm>
          <a:prstGeom prst="rect">
            <a:avLst/>
          </a:prstGeom>
          <a:solidFill>
            <a:srgbClr val="FFFBEB"/>
          </a:solidFill>
          <a:ln w="12700">
            <a:solidFill>
              <a:srgbClr val="B45309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0" y="1005840"/>
            <a:ext cx="1508760" cy="20116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0" y="123444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Repacking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(Sides/Fwd/Rev)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95160" y="1508760"/>
            <a:ext cx="2286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50608" y="139903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223760" y="1005840"/>
            <a:ext cx="1508760" cy="1005840"/>
          </a:xfrm>
          <a:prstGeom prst="rect">
            <a:avLst/>
          </a:prstGeom>
          <a:solidFill>
            <a:srgbClr val="FFF1F2"/>
          </a:solidFill>
          <a:ln w="12700">
            <a:solidFill>
              <a:srgbClr val="BE123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223760" y="1005840"/>
            <a:ext cx="1508760" cy="201168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23760" y="123444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Generation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2423160"/>
            <a:ext cx="8595360" cy="20116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242316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INDEXING PIPELINE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2697480"/>
            <a:ext cx="1828800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65760" y="26974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Docs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(Hugging Face)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194560" y="2926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2468880" y="2697480"/>
            <a:ext cx="1828800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468880" y="26974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(Fixed / Semantic)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297680" y="2926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572000" y="2697480"/>
            <a:ext cx="1828800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572000" y="26974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(BAAI/BGE, GTE)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0" y="2926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675120" y="2697480"/>
            <a:ext cx="1828800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675120" y="26974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(Milvus / Chroma)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74320" y="3794760"/>
            <a:ext cx="859536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0A8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365760" y="3794760"/>
            <a:ext cx="8412480" cy="1005840"/>
          </a:xfrm>
          <a:prstGeom prst="rect">
            <a:avLst/>
          </a:prstGeom>
          <a:solidFill>
            <a:schemeClr val="accent4">
              <a:lumMod val="5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Backend (Llama-3 / Mistral / GPT-4o via API)  +  Evaluation Layer (RAGBench metrics + RGB benchmarks)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chemeClr val="accent4">
              <a:lumMod val="50000"/>
            </a:schemeClr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Key Technical Decisions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2743200" cy="192024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60120"/>
            <a:ext cx="2743200" cy="38404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01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Strategy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417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Fixed-size (256/512 tokens) baseline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7647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Small2Big hierarchical chunking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211226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window with overlap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245973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chunking (sentence-boundary)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960120"/>
            <a:ext cx="2743200" cy="1920240"/>
          </a:xfrm>
          <a:prstGeom prst="rect">
            <a:avLst/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960120"/>
            <a:ext cx="2743200" cy="38404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9601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1417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BAAI/bge-large-en-v1.5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91840" y="17647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intfloat/e5-large-v2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91840" y="211226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Jina-embeddings-v2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91840" y="245973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all-mpnet-base-v2 (baseline)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72200" y="960120"/>
            <a:ext cx="2743200" cy="192024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72200" y="960120"/>
            <a:ext cx="274320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9601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Methods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63640" y="1417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(sparse, keyword)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63640" y="17647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vector search (ANN)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63640" y="211226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 — hypothetical doc embedding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63640" y="245973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BM25 + Dense fusion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28600" y="3063240"/>
            <a:ext cx="2743200" cy="1920240"/>
          </a:xfrm>
          <a:prstGeom prst="rect">
            <a:avLst/>
          </a:prstGeom>
          <a:solidFill>
            <a:srgbClr val="FFFBEB"/>
          </a:solidFill>
          <a:ln w="12700">
            <a:solidFill>
              <a:srgbClr val="B45309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3063240"/>
            <a:ext cx="2743200" cy="38404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0632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Reranking Models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20040" y="3520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monoT5 (cross-encoder)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0040" y="38679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monoBERT (BERT cross-encoder)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0040" y="421538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RankLLaMA (LLM-based)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0040" y="456285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TILDE (term-independence)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00400" y="3063240"/>
            <a:ext cx="2743200" cy="1920240"/>
          </a:xfrm>
          <a:prstGeom prst="rect">
            <a:avLst/>
          </a:prstGeom>
          <a:solidFill>
            <a:srgbClr val="FFF1F2"/>
          </a:solidFill>
          <a:ln w="12700">
            <a:solidFill>
              <a:srgbClr val="BE123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0" y="3063240"/>
            <a:ext cx="2743200" cy="384048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91840" y="30632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291840" y="3520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Milvus (production-grade)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291840" y="38679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(lightweight dev)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291840" y="421538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(in-memory baseline)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291840" y="456285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(cloud option)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172200" y="3063240"/>
            <a:ext cx="2743200" cy="1920240"/>
          </a:xfrm>
          <a:prstGeom prst="rect">
            <a:avLst/>
          </a:prstGeom>
          <a:solidFill>
            <a:srgbClr val="F1F5F9"/>
          </a:solidFill>
          <a:ln w="12700">
            <a:solidFill>
              <a:srgbClr val="475569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72200" y="3063240"/>
            <a:ext cx="2743200" cy="38404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63640" y="30632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Summarization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263640" y="3520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Extractive: Recomp + BM25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263640" y="38679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Abstractive: LongLLMLingua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263640" y="421538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SelectiveContext pruning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263640" y="456285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 (token-budget aware)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chemeClr val="accent4">
              <a:lumMod val="50000"/>
            </a:schemeClr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Framework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23360" cy="2926080"/>
          </a:xfrm>
          <a:prstGeom prst="rect">
            <a:avLst/>
          </a:prstGeom>
          <a:solidFill>
            <a:srgbClr val="F0F9FF"/>
          </a:solidFill>
          <a:ln w="12700">
            <a:solidFill>
              <a:srgbClr val="007EA7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023360" cy="438912"/>
          </a:xfrm>
          <a:prstGeom prst="rect">
            <a:avLst/>
          </a:prstGeom>
          <a:solidFill>
            <a:srgbClr val="007EA7"/>
          </a:solidFill>
          <a:ln w="12700">
            <a:solidFill>
              <a:srgbClr val="007E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1440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RAGBench Metrics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142646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Relevance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67335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 of retrieved context relevant to query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202082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Utilization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26771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 of context used in response generation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61518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286207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relevant info incorporated in response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320954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Adherence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345643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response parts grounded in context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914400"/>
            <a:ext cx="4297680" cy="2926080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0" y="914400"/>
            <a:ext cx="4297680" cy="43891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914400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Evaluation Metrics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663440" y="142646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(NR + II)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63440" y="16733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Exact-match on noise robustness &amp; info integration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63440" y="202082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 Rate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63440" y="226771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correctly refuses unanswerable questions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63440" y="261518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Detection Rate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63440" y="286207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factual errors in retrieved docs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63440" y="320954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Correction Rate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663440" y="345643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pre-trained knowledge to fix wrong info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4069080"/>
            <a:ext cx="8595360" cy="6858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40690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evaluation loop: each RAG config (chunking × embedding × retriever × reranker) will be benchmarked independently to identify the optimal end-to-end pipeline.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chemeClr val="accent4">
              <a:lumMod val="50000"/>
            </a:schemeClr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834640" cy="256032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283464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(UI)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4048" y="146304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— interactive demo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2121408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— research interface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2779776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UI with source citations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960120"/>
            <a:ext cx="2834640" cy="2560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960120"/>
            <a:ext cx="2834640" cy="41148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9601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(API)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01568" y="146304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— RESTful endpoints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01568" y="2121408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/query, /index, /evaluate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01568" y="2779776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/ LlamaIndex orchestration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960120"/>
            <a:ext cx="2834640" cy="2560320"/>
          </a:xfrm>
          <a:prstGeom prst="rect">
            <a:avLst/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9360" y="960120"/>
            <a:ext cx="2834640" cy="41148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9601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19088" y="146304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Platform (GCP)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19088" y="2121408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Heroku for staging/demo deploy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19088" y="2779776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containerization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3749040"/>
            <a:ext cx="8595360" cy="1051560"/>
          </a:xfrm>
          <a:prstGeom prst="rect">
            <a:avLst/>
          </a:prstGeom>
          <a:solidFill>
            <a:schemeClr val="accent4">
              <a:lumMod val="50000"/>
            </a:schemeClr>
          </a:solidFill>
          <a:ln w="12700">
            <a:solidFill>
              <a:srgbClr val="00A8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11480" y="37673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4160520"/>
            <a:ext cx="749808" cy="502920"/>
          </a:xfrm>
          <a:prstGeom prst="roundRect">
            <a:avLst>
              <a:gd name="adj" fmla="val 7273"/>
            </a:avLst>
          </a:prstGeom>
          <a:solidFill>
            <a:srgbClr val="1E2D3D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160520"/>
            <a:ext cx="749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207008" y="4160520"/>
            <a:ext cx="749808" cy="502920"/>
          </a:xfrm>
          <a:prstGeom prst="roundRect">
            <a:avLst>
              <a:gd name="adj" fmla="val 7273"/>
            </a:avLst>
          </a:prstGeom>
          <a:solidFill>
            <a:srgbClr val="1E2D3D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07008" y="4160520"/>
            <a:ext cx="749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048256" y="4160520"/>
            <a:ext cx="749808" cy="502920"/>
          </a:xfrm>
          <a:prstGeom prst="roundRect">
            <a:avLst>
              <a:gd name="adj" fmla="val 7273"/>
            </a:avLst>
          </a:prstGeom>
          <a:solidFill>
            <a:srgbClr val="1E2D3D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48256" y="4160520"/>
            <a:ext cx="749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889504" y="4160520"/>
            <a:ext cx="749808" cy="502920"/>
          </a:xfrm>
          <a:prstGeom prst="roundRect">
            <a:avLst>
              <a:gd name="adj" fmla="val 7273"/>
            </a:avLst>
          </a:prstGeom>
          <a:solidFill>
            <a:srgbClr val="1E2D3D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89504" y="4160520"/>
            <a:ext cx="749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LlamaIndex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730752" y="4160520"/>
            <a:ext cx="749808" cy="502920"/>
          </a:xfrm>
          <a:prstGeom prst="roundRect">
            <a:avLst>
              <a:gd name="adj" fmla="val 7273"/>
            </a:avLst>
          </a:prstGeom>
          <a:solidFill>
            <a:srgbClr val="1E2D3D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30752" y="4160520"/>
            <a:ext cx="749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0" y="4160520"/>
            <a:ext cx="749808" cy="502920"/>
          </a:xfrm>
          <a:prstGeom prst="roundRect">
            <a:avLst>
              <a:gd name="adj" fmla="val 7273"/>
            </a:avLst>
          </a:prstGeom>
          <a:solidFill>
            <a:srgbClr val="1E2D3D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0" y="4160520"/>
            <a:ext cx="749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13248" y="4160520"/>
            <a:ext cx="749808" cy="502920"/>
          </a:xfrm>
          <a:prstGeom prst="roundRect">
            <a:avLst>
              <a:gd name="adj" fmla="val 7273"/>
            </a:avLst>
          </a:prstGeom>
          <a:solidFill>
            <a:srgbClr val="1E2D3D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13248" y="4160520"/>
            <a:ext cx="749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Milvus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254496" y="4160520"/>
            <a:ext cx="749808" cy="502920"/>
          </a:xfrm>
          <a:prstGeom prst="roundRect">
            <a:avLst>
              <a:gd name="adj" fmla="val 7273"/>
            </a:avLst>
          </a:prstGeom>
          <a:solidFill>
            <a:srgbClr val="1E2D3D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54496" y="4160520"/>
            <a:ext cx="749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095744" y="4160520"/>
            <a:ext cx="749808" cy="502920"/>
          </a:xfrm>
          <a:prstGeom prst="roundRect">
            <a:avLst>
              <a:gd name="adj" fmla="val 7273"/>
            </a:avLst>
          </a:prstGeom>
          <a:solidFill>
            <a:srgbClr val="1E2D3D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95744" y="4160520"/>
            <a:ext cx="749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936992" y="4160520"/>
            <a:ext cx="749808" cy="502920"/>
          </a:xfrm>
          <a:prstGeom prst="roundRect">
            <a:avLst>
              <a:gd name="adj" fmla="val 7273"/>
            </a:avLst>
          </a:prstGeom>
          <a:solidFill>
            <a:srgbClr val="1E2D3D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936992" y="4160520"/>
            <a:ext cx="749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chemeClr val="accent4">
              <a:lumMod val="50000"/>
            </a:schemeClr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Structure &amp; Roles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1828800"/>
          </a:xfrm>
          <a:prstGeom prst="rect">
            <a:avLst/>
          </a:prstGeom>
          <a:solidFill>
            <a:srgbClr val="FAFAFA"/>
          </a:solidFill>
          <a:ln w="12700">
            <a:solidFill>
              <a:srgbClr val="0369A1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822960" cy="182880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4173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Rajanikanth/Atul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88720" y="106984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 Lead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1508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implement core retrieval pipeline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88720" y="1920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strategy experiments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88720" y="2331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 evaluation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960120"/>
            <a:ext cx="4114800" cy="1828800"/>
          </a:xfrm>
          <a:prstGeom prst="rect">
            <a:avLst/>
          </a:prstGeom>
          <a:solidFill>
            <a:srgbClr val="FAFAFA"/>
          </a:solidFill>
          <a:ln w="12700">
            <a:solidFill>
              <a:srgbClr val="7C3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960120"/>
            <a:ext cx="822960" cy="1828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4173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Rajanikath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/Atul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69280" y="106984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&amp; Reranking Lead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69280" y="1508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Reranking model integration (monoT5, BERT)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0" y="1920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rewriting &amp; HyDE implementation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69280" y="2331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fine-tuning experiments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971800"/>
            <a:ext cx="4114800" cy="1828800"/>
          </a:xfrm>
          <a:prstGeom prst="rect">
            <a:avLst/>
          </a:prstGeom>
          <a:solidFill>
            <a:srgbClr val="FAFAFA"/>
          </a:solidFill>
          <a:ln w="12700">
            <a:solidFill>
              <a:srgbClr val="047857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971800"/>
            <a:ext cx="822960" cy="182880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4290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Alka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88720" y="30815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Lead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88720" y="3520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RAGBench &amp; RGB benchmark harness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88720" y="3931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computation &amp; logging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88720" y="4343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study management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971800"/>
            <a:ext cx="4114800" cy="1828800"/>
          </a:xfrm>
          <a:prstGeom prst="rect">
            <a:avLst/>
          </a:prstGeom>
          <a:solidFill>
            <a:srgbClr val="FAFAFA"/>
          </a:solidFill>
          <a:ln w="12700">
            <a:solidFill>
              <a:srgbClr val="B45309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971800"/>
            <a:ext cx="822960" cy="18288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34290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Chetan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669280" y="30815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UI Lead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669280" y="3520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 development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669280" y="3931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Streamlit/Gradio frontend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669280" y="4343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GCP/Heroku deployment &amp; CI/CD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chemeClr val="accent4">
              <a:lumMod val="50000"/>
            </a:schemeClr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3-Month Project Timeline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43200" cy="3794760"/>
          </a:xfrm>
          <a:prstGeom prst="rect">
            <a:avLst/>
          </a:prstGeom>
          <a:solidFill>
            <a:srgbClr val="FAFAFA"/>
          </a:solidFill>
          <a:ln w="12700">
            <a:solidFill>
              <a:srgbClr val="0369A1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2743200" cy="5029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|  Wk 1–4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&amp; Baseline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627632"/>
            <a:ext cx="182880" cy="182880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57276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&amp; paper summaries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340864"/>
            <a:ext cx="182880" cy="182880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2860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setup (RAGBench + RGB)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3054096"/>
            <a:ext cx="182880" cy="182880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99923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Simple RAG implementation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3767328"/>
            <a:ext cx="182880" cy="182880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71246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harness setup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46120" y="960120"/>
            <a:ext cx="2743200" cy="3794760"/>
          </a:xfrm>
          <a:prstGeom prst="rect">
            <a:avLst/>
          </a:prstGeom>
          <a:solidFill>
            <a:srgbClr val="FAFAFA"/>
          </a:solidFill>
          <a:ln w="12700">
            <a:solidFill>
              <a:srgbClr val="7C3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46120" y="960120"/>
            <a:ext cx="274320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960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|  Wk 5–8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37560" y="12344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Components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83280" y="1627632"/>
            <a:ext cx="182880" cy="1828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0" y="157276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chunking &amp; embeddings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83280" y="2340864"/>
            <a:ext cx="182880" cy="1828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0" y="22860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 (BM25 + dense)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83280" y="3054096"/>
            <a:ext cx="182880" cy="1828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0" y="299923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Reranking integration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83280" y="3767328"/>
            <a:ext cx="182880" cy="1828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0" y="371246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 + query rewriting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17920" y="960120"/>
            <a:ext cx="2743200" cy="3794760"/>
          </a:xfrm>
          <a:prstGeom prst="rect">
            <a:avLst/>
          </a:prstGeom>
          <a:solidFill>
            <a:srgbClr val="FAFAFA"/>
          </a:solidFill>
          <a:ln w="12700">
            <a:solidFill>
              <a:srgbClr val="047857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17920" y="960120"/>
            <a:ext cx="2743200" cy="50292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960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|  Wk 9–12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09360" y="12344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 &amp; Deploy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355080" y="1627632"/>
            <a:ext cx="182880" cy="18288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29400" y="157276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 ablation studies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355080" y="2340864"/>
            <a:ext cx="182880" cy="18288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29400" y="22860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component (Enterprise RAGBench)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355080" y="3054096"/>
            <a:ext cx="182880" cy="18288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29400" y="299923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Streamlit deployment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355080" y="3767328"/>
            <a:ext cx="182880" cy="18288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29400" y="371246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 &amp; presentation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chemeClr val="accent4">
              <a:lumMod val="50000"/>
            </a:schemeClr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 &amp; Deliverables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2743200" cy="1737360"/>
          </a:xfrm>
          <a:prstGeom prst="rect">
            <a:avLst/>
          </a:prstGeom>
          <a:solidFill>
            <a:srgbClr val="FAFAFA"/>
          </a:solidFill>
          <a:ln w="12700">
            <a:solidFill>
              <a:srgbClr val="0369A1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60120"/>
            <a:ext cx="502920" cy="173736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5087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0515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Optimised RAG Pipeline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508760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with best-performing chunking, embedding, retriever and reranker combination proven by ablation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2743200" cy="1737360"/>
          </a:xfrm>
          <a:prstGeom prst="rect">
            <a:avLst/>
          </a:prstGeom>
          <a:solidFill>
            <a:srgbClr val="FAFAFA"/>
          </a:solidFill>
          <a:ln w="12700">
            <a:solidFill>
              <a:srgbClr val="7C3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960120"/>
            <a:ext cx="502920" cy="1737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5087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94760" y="10515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Results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94760" y="1508760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RAGBench + RGB evaluation scores across all configurations with comparison tables and analysis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960120"/>
            <a:ext cx="2743200" cy="1737360"/>
          </a:xfrm>
          <a:prstGeom prst="rect">
            <a:avLst/>
          </a:prstGeom>
          <a:solidFill>
            <a:srgbClr val="FAFAFA"/>
          </a:solidFill>
          <a:ln w="12700">
            <a:solidFill>
              <a:srgbClr val="047857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960120"/>
            <a:ext cx="502920" cy="173736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15087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66560" y="10515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 Summaries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766560" y="1508760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structured summaries: RAGBench, RGB, and RAG Best Practices papers with key findings and applicability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" y="2880360"/>
            <a:ext cx="2743200" cy="1737360"/>
          </a:xfrm>
          <a:prstGeom prst="rect">
            <a:avLst/>
          </a:prstGeom>
          <a:solidFill>
            <a:srgbClr val="FAFAFA"/>
          </a:solidFill>
          <a:ln w="12700">
            <a:solidFill>
              <a:srgbClr val="B45309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28600" y="2880360"/>
            <a:ext cx="502920" cy="17373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34290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" y="29718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Application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3429000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Streamlit/Gradio demo + FastAPI backend on GCP/Heroku with interactive query interface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2880360"/>
            <a:ext cx="2743200" cy="1737360"/>
          </a:xfrm>
          <a:prstGeom prst="rect">
            <a:avLst/>
          </a:prstGeom>
          <a:solidFill>
            <a:srgbClr val="FAFAFA"/>
          </a:solidFill>
          <a:ln w="12700">
            <a:solidFill>
              <a:srgbClr val="BE123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2880360"/>
            <a:ext cx="502920" cy="1737360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0" y="34290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794760" y="29718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794760" y="3429000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documented codebase with reproducible experiments, configs, and README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72200" y="2880360"/>
            <a:ext cx="2743200" cy="1737360"/>
          </a:xfrm>
          <a:prstGeom prst="rect">
            <a:avLst/>
          </a:prstGeom>
          <a:solidFill>
            <a:srgbClr val="FAFAFA"/>
          </a:solidFill>
          <a:ln w="12700">
            <a:solidFill>
              <a:srgbClr val="0891B2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72200" y="2880360"/>
            <a:ext cx="502920" cy="1737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72200" y="34290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766560" y="29718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Report &amp; Presentation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766560" y="3429000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report + slide deck covering methodology, results, analysis, and future directions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40880" y="365760"/>
            <a:ext cx="64008" cy="64008"/>
          </a:xfrm>
          <a:prstGeom prst="ellipse">
            <a:avLst/>
          </a:prstGeom>
          <a:solidFill>
            <a:srgbClr val="00A8CC">
              <a:alpha val="50000"/>
            </a:srgbClr>
          </a:solidFill>
          <a:ln w="12700">
            <a:solidFill>
              <a:srgbClr val="00A8CC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60920" y="365760"/>
            <a:ext cx="64008" cy="64008"/>
          </a:xfrm>
          <a:prstGeom prst="ellipse">
            <a:avLst/>
          </a:prstGeom>
          <a:solidFill>
            <a:srgbClr val="00A8CC">
              <a:alpha val="50000"/>
            </a:srgbClr>
          </a:solidFill>
          <a:ln w="12700">
            <a:solidFill>
              <a:srgbClr val="00A8CC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0" y="365760"/>
            <a:ext cx="64008" cy="64008"/>
          </a:xfrm>
          <a:prstGeom prst="ellipse">
            <a:avLst/>
          </a:prstGeom>
          <a:solidFill>
            <a:srgbClr val="00A8CC">
              <a:alpha val="50000"/>
            </a:srgbClr>
          </a:solidFill>
          <a:ln w="12700">
            <a:solidFill>
              <a:srgbClr val="00A8CC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01000" y="365760"/>
            <a:ext cx="64008" cy="64008"/>
          </a:xfrm>
          <a:prstGeom prst="ellipse">
            <a:avLst/>
          </a:prstGeom>
          <a:solidFill>
            <a:srgbClr val="00A8CC">
              <a:alpha val="50000"/>
            </a:srgbClr>
          </a:solidFill>
          <a:ln w="12700">
            <a:solidFill>
              <a:srgbClr val="00A8CC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1040" y="365760"/>
            <a:ext cx="64008" cy="64008"/>
          </a:xfrm>
          <a:prstGeom prst="ellipse">
            <a:avLst/>
          </a:prstGeom>
          <a:solidFill>
            <a:srgbClr val="00A8CC">
              <a:alpha val="50000"/>
            </a:srgbClr>
          </a:solidFill>
          <a:ln w="12700">
            <a:solidFill>
              <a:srgbClr val="00A8CC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41080" y="365760"/>
            <a:ext cx="64008" cy="64008"/>
          </a:xfrm>
          <a:prstGeom prst="ellipse">
            <a:avLst/>
          </a:prstGeom>
          <a:solidFill>
            <a:srgbClr val="00A8CC">
              <a:alpha val="50000"/>
            </a:srgbClr>
          </a:solidFill>
          <a:ln w="12700">
            <a:solidFill>
              <a:srgbClr val="00A8CC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40880" y="1234440"/>
            <a:ext cx="64008" cy="64008"/>
          </a:xfrm>
          <a:prstGeom prst="ellipse">
            <a:avLst/>
          </a:prstGeom>
          <a:solidFill>
            <a:srgbClr val="00A8CC">
              <a:alpha val="50000"/>
            </a:srgbClr>
          </a:solidFill>
          <a:ln w="12700">
            <a:solidFill>
              <a:srgbClr val="00A8CC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60920" y="1234440"/>
            <a:ext cx="64008" cy="64008"/>
          </a:xfrm>
          <a:prstGeom prst="ellipse">
            <a:avLst/>
          </a:prstGeom>
          <a:solidFill>
            <a:srgbClr val="00A8CC">
              <a:alpha val="50000"/>
            </a:srgbClr>
          </a:solidFill>
          <a:ln w="12700">
            <a:solidFill>
              <a:srgbClr val="00A8CC">
                <a:alpha val="5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80960" y="1234440"/>
            <a:ext cx="64008" cy="64008"/>
          </a:xfrm>
          <a:prstGeom prst="ellipse">
            <a:avLst/>
          </a:prstGeom>
          <a:solidFill>
            <a:srgbClr val="00A8CC">
              <a:alpha val="50000"/>
            </a:srgbClr>
          </a:solidFill>
          <a:ln w="12700">
            <a:solidFill>
              <a:srgbClr val="00A8CC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01000" y="1234440"/>
            <a:ext cx="64008" cy="64008"/>
          </a:xfrm>
          <a:prstGeom prst="ellipse">
            <a:avLst/>
          </a:prstGeom>
          <a:solidFill>
            <a:srgbClr val="00A8CC">
              <a:alpha val="50000"/>
            </a:srgbClr>
          </a:solidFill>
          <a:ln w="12700">
            <a:solidFill>
              <a:srgbClr val="00A8CC">
                <a:alpha val="5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21040" y="1234440"/>
            <a:ext cx="64008" cy="64008"/>
          </a:xfrm>
          <a:prstGeom prst="ellipse">
            <a:avLst/>
          </a:prstGeom>
          <a:solidFill>
            <a:srgbClr val="00A8CC">
              <a:alpha val="50000"/>
            </a:srgbClr>
          </a:solidFill>
          <a:ln w="12700">
            <a:solidFill>
              <a:srgbClr val="00A8CC">
                <a:alpha val="5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41080" y="1234440"/>
            <a:ext cx="64008" cy="64008"/>
          </a:xfrm>
          <a:prstGeom prst="ellipse">
            <a:avLst/>
          </a:prstGeom>
          <a:solidFill>
            <a:srgbClr val="00A8CC">
              <a:alpha val="50000"/>
            </a:srgbClr>
          </a:solidFill>
          <a:ln w="12700">
            <a:solidFill>
              <a:srgbClr val="00A8CC">
                <a:alpha val="5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0" y="2103120"/>
            <a:ext cx="64008" cy="64008"/>
          </a:xfrm>
          <a:prstGeom prst="ellipse">
            <a:avLst/>
          </a:prstGeom>
          <a:solidFill>
            <a:srgbClr val="00A8CC">
              <a:alpha val="50000"/>
            </a:srgbClr>
          </a:solidFill>
          <a:ln w="12700">
            <a:solidFill>
              <a:srgbClr val="00A8CC">
                <a:alpha val="5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60920" y="2103120"/>
            <a:ext cx="64008" cy="64008"/>
          </a:xfrm>
          <a:prstGeom prst="ellipse">
            <a:avLst/>
          </a:prstGeom>
          <a:solidFill>
            <a:srgbClr val="00A8CC">
              <a:alpha val="50000"/>
            </a:srgbClr>
          </a:solidFill>
          <a:ln w="12700">
            <a:solidFill>
              <a:srgbClr val="00A8CC">
                <a:alpha val="5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80960" y="2103120"/>
            <a:ext cx="64008" cy="64008"/>
          </a:xfrm>
          <a:prstGeom prst="ellipse">
            <a:avLst/>
          </a:prstGeom>
          <a:solidFill>
            <a:srgbClr val="00A8CC">
              <a:alpha val="50000"/>
            </a:srgbClr>
          </a:solidFill>
          <a:ln w="12700">
            <a:solidFill>
              <a:srgbClr val="00A8CC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01000" y="2103120"/>
            <a:ext cx="64008" cy="64008"/>
          </a:xfrm>
          <a:prstGeom prst="ellipse">
            <a:avLst/>
          </a:prstGeom>
          <a:solidFill>
            <a:srgbClr val="00A8CC">
              <a:alpha val="50000"/>
            </a:srgbClr>
          </a:solidFill>
          <a:ln w="12700">
            <a:solidFill>
              <a:srgbClr val="00A8CC">
                <a:alpha val="5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21040" y="2103120"/>
            <a:ext cx="64008" cy="64008"/>
          </a:xfrm>
          <a:prstGeom prst="ellipse">
            <a:avLst/>
          </a:prstGeom>
          <a:solidFill>
            <a:srgbClr val="00A8CC">
              <a:alpha val="50000"/>
            </a:srgbClr>
          </a:solidFill>
          <a:ln w="12700">
            <a:solidFill>
              <a:srgbClr val="00A8CC">
                <a:alpha val="5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41080" y="2103120"/>
            <a:ext cx="64008" cy="64008"/>
          </a:xfrm>
          <a:prstGeom prst="ellipse">
            <a:avLst/>
          </a:prstGeom>
          <a:solidFill>
            <a:srgbClr val="00A8CC">
              <a:alpha val="50000"/>
            </a:srgbClr>
          </a:solidFill>
          <a:ln w="12700">
            <a:solidFill>
              <a:srgbClr val="00A8CC">
                <a:alpha val="5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40880" y="2971800"/>
            <a:ext cx="64008" cy="64008"/>
          </a:xfrm>
          <a:prstGeom prst="ellipse">
            <a:avLst/>
          </a:prstGeom>
          <a:solidFill>
            <a:srgbClr val="00A8CC">
              <a:alpha val="50000"/>
            </a:srgbClr>
          </a:solidFill>
          <a:ln w="12700">
            <a:solidFill>
              <a:srgbClr val="00A8CC">
                <a:alpha val="5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60920" y="2971800"/>
            <a:ext cx="64008" cy="64008"/>
          </a:xfrm>
          <a:prstGeom prst="ellipse">
            <a:avLst/>
          </a:prstGeom>
          <a:solidFill>
            <a:srgbClr val="00A8CC">
              <a:alpha val="50000"/>
            </a:srgbClr>
          </a:solidFill>
          <a:ln w="12700">
            <a:solidFill>
              <a:srgbClr val="00A8CC">
                <a:alpha val="5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80960" y="2971800"/>
            <a:ext cx="64008" cy="64008"/>
          </a:xfrm>
          <a:prstGeom prst="ellipse">
            <a:avLst/>
          </a:prstGeom>
          <a:solidFill>
            <a:srgbClr val="00A8CC">
              <a:alpha val="50000"/>
            </a:srgbClr>
          </a:solidFill>
          <a:ln w="12700">
            <a:solidFill>
              <a:srgbClr val="00A8CC">
                <a:alpha val="5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01000" y="2971800"/>
            <a:ext cx="64008" cy="64008"/>
          </a:xfrm>
          <a:prstGeom prst="ellipse">
            <a:avLst/>
          </a:prstGeom>
          <a:solidFill>
            <a:srgbClr val="00A8CC">
              <a:alpha val="50000"/>
            </a:srgbClr>
          </a:solidFill>
          <a:ln w="12700">
            <a:solidFill>
              <a:srgbClr val="00A8CC">
                <a:alpha val="5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21040" y="2971800"/>
            <a:ext cx="64008" cy="64008"/>
          </a:xfrm>
          <a:prstGeom prst="ellipse">
            <a:avLst/>
          </a:prstGeom>
          <a:solidFill>
            <a:srgbClr val="00A8CC">
              <a:alpha val="50000"/>
            </a:srgbClr>
          </a:solidFill>
          <a:ln w="12700">
            <a:solidFill>
              <a:srgbClr val="00A8CC">
                <a:alpha val="5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41080" y="2971800"/>
            <a:ext cx="64008" cy="64008"/>
          </a:xfrm>
          <a:prstGeom prst="ellipse">
            <a:avLst/>
          </a:prstGeom>
          <a:solidFill>
            <a:srgbClr val="00A8CC">
              <a:alpha val="50000"/>
            </a:srgbClr>
          </a:solidFill>
          <a:ln w="12700">
            <a:solidFill>
              <a:srgbClr val="00A8CC">
                <a:alpha val="5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40880" y="3840480"/>
            <a:ext cx="64008" cy="64008"/>
          </a:xfrm>
          <a:prstGeom prst="ellipse">
            <a:avLst/>
          </a:prstGeom>
          <a:solidFill>
            <a:srgbClr val="00A8CC">
              <a:alpha val="50000"/>
            </a:srgbClr>
          </a:solidFill>
          <a:ln w="12700">
            <a:solidFill>
              <a:srgbClr val="00A8CC">
                <a:alpha val="5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60920" y="3840480"/>
            <a:ext cx="64008" cy="64008"/>
          </a:xfrm>
          <a:prstGeom prst="ellipse">
            <a:avLst/>
          </a:prstGeom>
          <a:solidFill>
            <a:srgbClr val="00A8CC">
              <a:alpha val="50000"/>
            </a:srgbClr>
          </a:solidFill>
          <a:ln w="12700">
            <a:solidFill>
              <a:srgbClr val="00A8CC">
                <a:alpha val="5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80960" y="3840480"/>
            <a:ext cx="64008" cy="64008"/>
          </a:xfrm>
          <a:prstGeom prst="ellipse">
            <a:avLst/>
          </a:prstGeom>
          <a:solidFill>
            <a:srgbClr val="00A8CC">
              <a:alpha val="50000"/>
            </a:srgbClr>
          </a:solidFill>
          <a:ln w="12700">
            <a:solidFill>
              <a:srgbClr val="00A8CC">
                <a:alpha val="5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01000" y="3840480"/>
            <a:ext cx="64008" cy="64008"/>
          </a:xfrm>
          <a:prstGeom prst="ellipse">
            <a:avLst/>
          </a:prstGeom>
          <a:solidFill>
            <a:srgbClr val="00A8CC">
              <a:alpha val="50000"/>
            </a:srgbClr>
          </a:solidFill>
          <a:ln w="12700">
            <a:solidFill>
              <a:srgbClr val="00A8CC">
                <a:alpha val="5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21040" y="3840480"/>
            <a:ext cx="64008" cy="64008"/>
          </a:xfrm>
          <a:prstGeom prst="ellipse">
            <a:avLst/>
          </a:prstGeom>
          <a:solidFill>
            <a:srgbClr val="00A8CC">
              <a:alpha val="50000"/>
            </a:srgbClr>
          </a:solidFill>
          <a:ln w="12700">
            <a:solidFill>
              <a:srgbClr val="00A8CC">
                <a:alpha val="5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641080" y="3840480"/>
            <a:ext cx="64008" cy="64008"/>
          </a:xfrm>
          <a:prstGeom prst="ellipse">
            <a:avLst/>
          </a:prstGeom>
          <a:solidFill>
            <a:srgbClr val="00A8CC">
              <a:alpha val="50000"/>
            </a:srgbClr>
          </a:solidFill>
          <a:ln w="12700">
            <a:solidFill>
              <a:srgbClr val="00A8CC">
                <a:alpha val="5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8229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4" name="Shape 32"/>
          <p:cNvSpPr/>
          <p:nvPr/>
        </p:nvSpPr>
        <p:spPr>
          <a:xfrm>
            <a:off x="457200" y="1691640"/>
            <a:ext cx="3657600" cy="36576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17830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World RAG System — AIML Capstone Project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57200" y="2834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References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57200" y="324612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 </a:t>
            </a:r>
            <a:r>
              <a:rPr lang="en-US" sz="1100" dirty="0">
                <a:solidFill>
                  <a:srgbClr val="AE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huggingface.co/datasets/rungalileo/ragbench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" y="365760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RAGBench Paper:  </a:t>
            </a:r>
            <a:r>
              <a:rPr lang="en-US" sz="1100" dirty="0">
                <a:solidFill>
                  <a:srgbClr val="AE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arxiv.org/pdf/2407.11005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40690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Paper:  </a:t>
            </a:r>
            <a:r>
              <a:rPr lang="en-US" sz="1100" dirty="0">
                <a:solidFill>
                  <a:srgbClr val="AE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arxiv.org/pdf/2309.01431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448056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Best Practice:  </a:t>
            </a:r>
            <a:r>
              <a:rPr lang="en-US" sz="1100" dirty="0">
                <a:solidFill>
                  <a:srgbClr val="AE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aclanthology.org/2024.emnlp-main.981</a:t>
            </a:r>
            <a:endParaRPr lang="en-US" sz="11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670</TotalTime>
  <Words>992</Words>
  <Application>Microsoft Office PowerPoint</Application>
  <PresentationFormat>On-screen Show (16:9)</PresentationFormat>
  <Paragraphs>231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Calibri</vt:lpstr>
      <vt:lpstr>Century Gothic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World RAG System - Project Proposal</dc:title>
  <dc:subject>PptxGenJS Presentation</dc:subject>
  <dc:creator>PptxGenJS</dc:creator>
  <cp:lastModifiedBy>Atul chouhan</cp:lastModifiedBy>
  <cp:revision>5</cp:revision>
  <dcterms:created xsi:type="dcterms:W3CDTF">2026-05-25T18:06:51Z</dcterms:created>
  <dcterms:modified xsi:type="dcterms:W3CDTF">2026-05-30T04:14:47Z</dcterms:modified>
</cp:coreProperties>
</file>